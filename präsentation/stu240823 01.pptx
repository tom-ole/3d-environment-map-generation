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61" r:id="rId2"/>
    <p:sldId id="277" r:id="rId3"/>
    <p:sldId id="263" r:id="rId4"/>
    <p:sldId id="271" r:id="rId5"/>
    <p:sldId id="272" r:id="rId6"/>
    <p:sldId id="274" r:id="rId7"/>
    <p:sldId id="273" r:id="rId8"/>
    <p:sldId id="276" r:id="rId9"/>
    <p:sldId id="268" r:id="rId10"/>
    <p:sldId id="270" r:id="rId11"/>
    <p:sldId id="278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Tabelle1!$C$2</c:f>
              <c:strCache>
                <c:ptCount val="1"/>
                <c:pt idx="0">
                  <c:v>Start Date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elete val="1"/>
          </c:dLbls>
          <c:errBars>
            <c:errBarType val="plus"/>
            <c:errValType val="cust"/>
            <c:noEndCap val="1"/>
            <c:plus>
              <c:numRef>
                <c:f>Tabelle1!$G$3:$G$10</c:f>
                <c:numCache>
                  <c:formatCode>General</c:formatCode>
                  <c:ptCount val="8"/>
                  <c:pt idx="0">
                    <c:v>26.599999999999998</c:v>
                  </c:pt>
                  <c:pt idx="1">
                    <c:v>12.5</c:v>
                  </c:pt>
                  <c:pt idx="2">
                    <c:v>0</c:v>
                  </c:pt>
                  <c:pt idx="3">
                    <c:v>0</c:v>
                  </c:pt>
                  <c:pt idx="4">
                    <c:v>0</c:v>
                  </c:pt>
                  <c:pt idx="5">
                    <c:v>0</c:v>
                  </c:pt>
                  <c:pt idx="6">
                    <c:v>0</c:v>
                  </c:pt>
                  <c:pt idx="7">
                    <c:v>27.644921874999994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520700" cap="flat" cmpd="sng" algn="ctr">
                <a:solidFill>
                  <a:schemeClr val="accent5">
                    <a:lumMod val="75000"/>
                  </a:schemeClr>
                </a:solidFill>
                <a:round/>
              </a:ln>
              <a:effectLst/>
            </c:spPr>
          </c:errBars>
          <c:cat>
            <c:strRef>
              <c:f>Tabelle1!$B$3:$B$10</c:f>
              <c:strCache>
                <c:ptCount val="8"/>
                <c:pt idx="0">
                  <c:v>Literature Review</c:v>
                </c:pt>
                <c:pt idx="1">
                  <c:v>Data Collection</c:v>
                </c:pt>
                <c:pt idx="2">
                  <c:v>Data Preprocessing</c:v>
                </c:pt>
                <c:pt idx="3">
                  <c:v>Colmap</c:v>
                </c:pt>
                <c:pt idx="4">
                  <c:v>Gaussian Splat</c:v>
                </c:pt>
                <c:pt idx="5">
                  <c:v>Data Postprocessing</c:v>
                </c:pt>
                <c:pt idx="6">
                  <c:v>Thesis Writing</c:v>
                </c:pt>
                <c:pt idx="7">
                  <c:v>Thesis</c:v>
                </c:pt>
              </c:strCache>
            </c:strRef>
          </c:cat>
          <c:val>
            <c:numRef>
              <c:f>Tabelle1!$C$3:$C$10</c:f>
              <c:numCache>
                <c:formatCode>m/d/yyyy</c:formatCode>
                <c:ptCount val="8"/>
                <c:pt idx="0">
                  <c:v>46114</c:v>
                </c:pt>
                <c:pt idx="1">
                  <c:v>46127</c:v>
                </c:pt>
                <c:pt idx="2">
                  <c:v>46152</c:v>
                </c:pt>
                <c:pt idx="3">
                  <c:v>46158</c:v>
                </c:pt>
                <c:pt idx="4">
                  <c:v>46180</c:v>
                </c:pt>
                <c:pt idx="5">
                  <c:v>46210</c:v>
                </c:pt>
                <c:pt idx="6">
                  <c:v>46231</c:v>
                </c:pt>
                <c:pt idx="7">
                  <c:v>46114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DC-4D89-A92D-712EEDB670AD}"/>
            </c:ext>
          </c:extLst>
        </c:ser>
        <c:ser>
          <c:idx val="1"/>
          <c:order val="1"/>
          <c:tx>
            <c:strRef>
              <c:f>Tabelle1!$F$2</c:f>
              <c:strCache>
                <c:ptCount val="1"/>
                <c:pt idx="0">
                  <c:v>Duration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C30B265-186A-4C58-A205-6C7CBDD257F4}" type="CELLRANGE">
                      <a:rPr lang="de-DE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13DC-4D89-A92D-712EEDB670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CDA39FE-9233-43D9-BC27-B91E052F8B03}" type="CELLRANGE">
                      <a:rPr lang="de-DE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13DC-4D89-A92D-712EEDB670A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47DB925-FF96-4503-B8B0-B1D47960BF7E}" type="CELLRANGE">
                      <a:rPr lang="de-DE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13DC-4D89-A92D-712EEDB670A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D39FF87-826C-4816-9DD2-9D7FF9248075}" type="CELLRANGE">
                      <a:rPr lang="de-DE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13DC-4D89-A92D-712EEDB670A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C56ABCBC-77A9-4C88-AA6E-55A0FCCB36E7}" type="CELLRANGE">
                      <a:rPr lang="de-DE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13DC-4D89-A92D-712EEDB670A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A1D3CB9-E1D4-42EA-A2AA-D5F56B5BEAE2}" type="CELLRANGE">
                      <a:rPr lang="de-DE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13DC-4D89-A92D-712EEDB670A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C7937AC3-B2FD-4D96-AE10-693AFD786342}" type="CELLRANGE">
                      <a:rPr lang="de-DE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13DC-4D89-A92D-712EEDB670A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173E4100-88E8-47CD-9CD6-8261780DA761}" type="CELLRANGE">
                      <a:rPr lang="de-DE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13DC-4D89-A92D-712EEDB670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Lato" panose="020F050202020403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Tabelle1!$B$3:$B$10</c:f>
              <c:strCache>
                <c:ptCount val="8"/>
                <c:pt idx="0">
                  <c:v>Literature Review</c:v>
                </c:pt>
                <c:pt idx="1">
                  <c:v>Data Collection</c:v>
                </c:pt>
                <c:pt idx="2">
                  <c:v>Data Preprocessing</c:v>
                </c:pt>
                <c:pt idx="3">
                  <c:v>Colmap</c:v>
                </c:pt>
                <c:pt idx="4">
                  <c:v>Gaussian Splat</c:v>
                </c:pt>
                <c:pt idx="5">
                  <c:v>Data Postprocessing</c:v>
                </c:pt>
                <c:pt idx="6">
                  <c:v>Thesis Writing</c:v>
                </c:pt>
                <c:pt idx="7">
                  <c:v>Thesis</c:v>
                </c:pt>
              </c:strCache>
            </c:strRef>
          </c:cat>
          <c:val>
            <c:numRef>
              <c:f>Tabelle1!$F$3:$F$10</c:f>
              <c:numCache>
                <c:formatCode>0</c:formatCode>
                <c:ptCount val="8"/>
                <c:pt idx="0">
                  <c:v>38</c:v>
                </c:pt>
                <c:pt idx="1">
                  <c:v>25</c:v>
                </c:pt>
                <c:pt idx="2">
                  <c:v>52</c:v>
                </c:pt>
                <c:pt idx="3">
                  <c:v>26</c:v>
                </c:pt>
                <c:pt idx="4">
                  <c:v>30</c:v>
                </c:pt>
                <c:pt idx="5">
                  <c:v>21</c:v>
                </c:pt>
                <c:pt idx="6">
                  <c:v>64</c:v>
                </c:pt>
                <c:pt idx="7">
                  <c:v>181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Tabelle1!$E$3:$E$10</c15:f>
                <c15:dlblRangeCache>
                  <c:ptCount val="8"/>
                  <c:pt idx="0">
                    <c:v>70%</c:v>
                  </c:pt>
                  <c:pt idx="1">
                    <c:v>50%</c:v>
                  </c:pt>
                  <c:pt idx="2">
                    <c:v>0%</c:v>
                  </c:pt>
                  <c:pt idx="3">
                    <c:v>0%</c:v>
                  </c:pt>
                  <c:pt idx="4">
                    <c:v>0%</c:v>
                  </c:pt>
                  <c:pt idx="5">
                    <c:v>0%</c:v>
                  </c:pt>
                  <c:pt idx="6">
                    <c:v>0%</c:v>
                  </c:pt>
                  <c:pt idx="7">
                    <c:v>15%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13DC-4D89-A92D-712EEDB670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84630319"/>
        <c:axId val="84631279"/>
      </c:barChart>
      <c:catAx>
        <c:axId val="8463031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+mn-ea"/>
                <a:cs typeface="+mn-cs"/>
              </a:defRPr>
            </a:pPr>
            <a:endParaRPr lang="en-US"/>
          </a:p>
        </c:txPr>
        <c:crossAx val="84631279"/>
        <c:crosses val="autoZero"/>
        <c:auto val="1"/>
        <c:lblAlgn val="ctr"/>
        <c:lblOffset val="100"/>
        <c:noMultiLvlLbl val="0"/>
      </c:catAx>
      <c:valAx>
        <c:axId val="84631279"/>
        <c:scaling>
          <c:orientation val="minMax"/>
          <c:max val="46296"/>
          <c:min val="46114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yy" sourceLinked="0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+mn-ea"/>
                <a:cs typeface="+mn-cs"/>
              </a:defRPr>
            </a:pPr>
            <a:endParaRPr lang="en-US"/>
          </a:p>
        </c:txPr>
        <c:crossAx val="84630319"/>
        <c:crosses val="autoZero"/>
        <c:crossBetween val="between"/>
        <c:majorUnit val="30"/>
        <c:minorUnit val="7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  <a:latin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C3B69-89BD-49DC-9594-2357530D7DFA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BD4EE-AD9D-403C-AF7A-F1AB462904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1470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6;p3">
            <a:extLst>
              <a:ext uri="{FF2B5EF4-FFF2-40B4-BE49-F238E27FC236}">
                <a16:creationId xmlns:a16="http://schemas.microsoft.com/office/drawing/2014/main" id="{2E3473E1-C400-4124-891C-37D5C381A84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50761" b="12764"/>
          <a:stretch/>
        </p:blipFill>
        <p:spPr>
          <a:xfrm>
            <a:off x="0" y="0"/>
            <a:ext cx="60928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EE92AF3-8DDC-44BE-9D2E-759639164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7040" y="1122363"/>
            <a:ext cx="5212080" cy="4775200"/>
          </a:xfrm>
        </p:spPr>
        <p:txBody>
          <a:bodyPr anchor="ctr" anchorCtr="0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15A0DA-9A46-490C-8E2D-4EA13784CA9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1122363"/>
            <a:ext cx="4572000" cy="2387600"/>
          </a:xfrm>
        </p:spPr>
        <p:txBody>
          <a:bodyPr anchor="b" anchorCtr="0"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student</a:t>
            </a:r>
            <a:endParaRPr lang="de-DE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6260197-8A91-4752-8D87-5ABB6A83D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10837861" y="93374"/>
            <a:ext cx="1222519" cy="611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F07684F6-A99A-44CB-8903-BE5048E74EA4}"/>
              </a:ext>
            </a:extLst>
          </p:cNvPr>
          <p:cNvSpPr/>
          <p:nvPr userDrawn="1"/>
        </p:nvSpPr>
        <p:spPr>
          <a:xfrm>
            <a:off x="6095999" y="3509963"/>
            <a:ext cx="4608945" cy="6353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Supervisors: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Prof. Dr. Sören Pirk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40F74A2-E1B6-4327-8FAF-4D246CCEE296}"/>
              </a:ext>
            </a:extLst>
          </p:cNvPr>
          <p:cNvCxnSpPr>
            <a:cxnSpLocks/>
          </p:cNvCxnSpPr>
          <p:nvPr userDrawn="1"/>
        </p:nvCxnSpPr>
        <p:spPr>
          <a:xfrm>
            <a:off x="6088059" y="3509963"/>
            <a:ext cx="45799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11C86DE-CBF3-4A69-801B-DB9DCCB564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88059" y="4104641"/>
            <a:ext cx="4579941" cy="1792919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PhD Supervisor</a:t>
            </a:r>
          </a:p>
        </p:txBody>
      </p:sp>
    </p:spTree>
    <p:extLst>
      <p:ext uri="{BB962C8B-B14F-4D97-AF65-F5344CB8AC3E}">
        <p14:creationId xmlns:p14="http://schemas.microsoft.com/office/powerpoint/2010/main" val="187468353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0D65BE7-7A8F-4540-8F44-5AEFC314D4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Tom-Ole Korbach | 3D Environment Reconstruction with Spot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C23A5C4-AB72-493D-B086-E6BB9932A8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6EA52EF0-C2DF-4AFC-8E09-4EF815917F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4652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5" name="Textplatzhalter 23">
            <a:extLst>
              <a:ext uri="{FF2B5EF4-FFF2-40B4-BE49-F238E27FC236}">
                <a16:creationId xmlns:a16="http://schemas.microsoft.com/office/drawing/2014/main" id="{37E3301A-4CED-48AC-BB1C-52F90922AE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621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6" name="Textplatzhalter 23">
            <a:extLst>
              <a:ext uri="{FF2B5EF4-FFF2-40B4-BE49-F238E27FC236}">
                <a16:creationId xmlns:a16="http://schemas.microsoft.com/office/drawing/2014/main" id="{2D79952C-0567-4061-B8D9-D55138CC8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6590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7" name="Textplatzhalter 23">
            <a:extLst>
              <a:ext uri="{FF2B5EF4-FFF2-40B4-BE49-F238E27FC236}">
                <a16:creationId xmlns:a16="http://schemas.microsoft.com/office/drawing/2014/main" id="{ED7DD245-CB5B-4949-A782-F61E468A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2559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8" name="Textplatzhalter 23">
            <a:extLst>
              <a:ext uri="{FF2B5EF4-FFF2-40B4-BE49-F238E27FC236}">
                <a16:creationId xmlns:a16="http://schemas.microsoft.com/office/drawing/2014/main" id="{251FF361-6BA9-431F-8105-D8C57133BD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8528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9" name="Textplatzhalter 23">
            <a:extLst>
              <a:ext uri="{FF2B5EF4-FFF2-40B4-BE49-F238E27FC236}">
                <a16:creationId xmlns:a16="http://schemas.microsoft.com/office/drawing/2014/main" id="{4F5377E7-E090-49FF-9DD9-C65EF34E67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4497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30" name="Textplatzhalter 23">
            <a:extLst>
              <a:ext uri="{FF2B5EF4-FFF2-40B4-BE49-F238E27FC236}">
                <a16:creationId xmlns:a16="http://schemas.microsoft.com/office/drawing/2014/main" id="{ED23E987-DF55-482C-BF6D-EAD67DD0B3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43049" y="1465263"/>
            <a:ext cx="9810749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23">
            <a:extLst>
              <a:ext uri="{FF2B5EF4-FFF2-40B4-BE49-F238E27FC236}">
                <a16:creationId xmlns:a16="http://schemas.microsoft.com/office/drawing/2014/main" id="{EE805C4D-D1FB-441F-AD9C-0CA2AE415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43050" y="20621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2" name="Textplatzhalter 23">
            <a:extLst>
              <a:ext uri="{FF2B5EF4-FFF2-40B4-BE49-F238E27FC236}">
                <a16:creationId xmlns:a16="http://schemas.microsoft.com/office/drawing/2014/main" id="{3E6CAD65-4B14-4CAB-B3C0-AF428914EE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543050" y="2654301"/>
            <a:ext cx="9810748" cy="482600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23">
            <a:extLst>
              <a:ext uri="{FF2B5EF4-FFF2-40B4-BE49-F238E27FC236}">
                <a16:creationId xmlns:a16="http://schemas.microsoft.com/office/drawing/2014/main" id="{F91AF98A-3A8B-4567-9C48-86E935CFAC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43050" y="32559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23">
            <a:extLst>
              <a:ext uri="{FF2B5EF4-FFF2-40B4-BE49-F238E27FC236}">
                <a16:creationId xmlns:a16="http://schemas.microsoft.com/office/drawing/2014/main" id="{905492C7-A057-4472-B703-B445A3B51B8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543050" y="38528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5" name="Textplatzhalter 23">
            <a:extLst>
              <a:ext uri="{FF2B5EF4-FFF2-40B4-BE49-F238E27FC236}">
                <a16:creationId xmlns:a16="http://schemas.microsoft.com/office/drawing/2014/main" id="{FC1F0516-829D-4CCD-9E63-F3BFEA2CFF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43050" y="44497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929F704E-BBF6-4A16-AA93-4CE2DF1CEDBF}"/>
              </a:ext>
            </a:extLst>
          </p:cNvPr>
          <p:cNvSpPr txBox="1"/>
          <p:nvPr userDrawn="1"/>
        </p:nvSpPr>
        <p:spPr>
          <a:xfrm>
            <a:off x="838198" y="365760"/>
            <a:ext cx="100482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latin typeface="+mj-lt"/>
              </a:rPr>
              <a:t>Outline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39485C8-4CDA-4AC8-9C11-E531475402A2}"/>
              </a:ext>
            </a:extLst>
          </p:cNvPr>
          <p:cNvCxnSpPr>
            <a:cxnSpLocks/>
          </p:cNvCxnSpPr>
          <p:nvPr userDrawn="1"/>
        </p:nvCxnSpPr>
        <p:spPr>
          <a:xfrm>
            <a:off x="1409379" y="1465263"/>
            <a:ext cx="0" cy="34623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94152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;p3">
            <a:extLst>
              <a:ext uri="{FF2B5EF4-FFF2-40B4-BE49-F238E27FC236}">
                <a16:creationId xmlns:a16="http://schemas.microsoft.com/office/drawing/2014/main" id="{04859EE0-D0A0-40D6-8B51-9DE288ED551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3372"/>
          <a:stretch/>
        </p:blipFill>
        <p:spPr>
          <a:xfrm>
            <a:off x="-76525" y="-76250"/>
            <a:ext cx="12268525" cy="69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5BDDE1-D209-4592-B4E0-EF98E481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040" y="3014662"/>
            <a:ext cx="8707119" cy="82867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307DFD62-F2DD-41DC-8D40-DEF0909E4BEA}"/>
              </a:ext>
            </a:extLst>
          </p:cNvPr>
          <p:cNvCxnSpPr>
            <a:cxnSpLocks/>
          </p:cNvCxnSpPr>
          <p:nvPr userDrawn="1"/>
        </p:nvCxnSpPr>
        <p:spPr>
          <a:xfrm>
            <a:off x="3019739" y="2633821"/>
            <a:ext cx="0" cy="16817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2A534CA-2327-444A-85B2-40C3E85C39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3080" y="2633028"/>
            <a:ext cx="2412359" cy="1681797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13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387174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BA58C7-9CA4-4A69-8281-830B7CB99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FEA076-7CE8-436E-A808-1FACEB568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0D65BE7-7A8F-4540-8F44-5AEFC314D4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Tom-Ole Korbach | 3D Environment Reconstruction with Spot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C23A5C4-AB72-493D-B086-E6BB9932A8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083755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C699A29-BE38-4550-B6E7-D5F50C256E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33920" y="93373"/>
            <a:ext cx="1222519" cy="611260"/>
          </a:xfrm>
          <a:prstGeom prst="rect">
            <a:avLst/>
          </a:prstGeom>
        </p:spPr>
      </p:pic>
      <p:pic>
        <p:nvPicPr>
          <p:cNvPr id="8" name="Google Shape;16;p3">
            <a:extLst>
              <a:ext uri="{FF2B5EF4-FFF2-40B4-BE49-F238E27FC236}">
                <a16:creationId xmlns:a16="http://schemas.microsoft.com/office/drawing/2014/main" id="{843CD34C-62BD-4771-A0CC-816CC9FDB770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 t="89958" b="3372"/>
          <a:stretch/>
        </p:blipFill>
        <p:spPr>
          <a:xfrm>
            <a:off x="-1" y="6356350"/>
            <a:ext cx="1083786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DBEBF33-92DB-4F4B-B9AB-15DCD1BA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A8E90B-076A-4171-8C78-A75DD5EB2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5552"/>
            <a:ext cx="10515600" cy="4711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8E2B00-A97F-474F-9CF9-DEC6B787F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9999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Tom-Ole Korbach | 3D Environment Reconstruction with Spot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E03616-96E9-49F6-B138-5C3CB6323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7862" y="6356350"/>
            <a:ext cx="51593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F4A6CBB-F502-4F21-9EEC-F3DA3CA4578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748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C33B0-A333-479C-88E6-DFE1B64C8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Automatic Generation of 3D</a:t>
            </a:r>
            <a:br>
              <a:rPr lang="en-US" noProof="0" dirty="0"/>
            </a:br>
            <a:r>
              <a:rPr lang="en-US" noProof="0" dirty="0"/>
              <a:t>Environment Models from Robot Sensor Data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D8434F6-AB5E-4DEE-9EC7-A7206E8A59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Tom-Ole Korbach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088ACC-55F9-4BD5-8255-AF7EEEA068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7120" y="4104641"/>
            <a:ext cx="4500880" cy="1792919"/>
          </a:xfrm>
        </p:spPr>
        <p:txBody>
          <a:bodyPr/>
          <a:lstStyle/>
          <a:p>
            <a:r>
              <a:rPr lang="en-US" noProof="0" dirty="0"/>
              <a:t>Anton Wagner</a:t>
            </a:r>
          </a:p>
        </p:txBody>
      </p:sp>
    </p:spTree>
    <p:extLst>
      <p:ext uri="{BB962C8B-B14F-4D97-AF65-F5344CB8AC3E}">
        <p14:creationId xmlns:p14="http://schemas.microsoft.com/office/powerpoint/2010/main" val="20016647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C144B5B-C3DB-61D3-6EFD-812F4BC8A8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Tom-Ole Korbach | 3D Environment Reconstruction with Spot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33B1BC-DE57-CB96-0BCF-A50BB53D9C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090A7-0AAB-0C72-2221-AB39A8ADB5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1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D837DBF-FE91-9793-65E7-575ABAE782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2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F5AF84F-6D67-4ADA-945E-109C86F075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3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166B4AF-625D-5F4E-EE0A-BB1030817D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4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49EE903A-3055-302A-1D3E-60B1A3BFC7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7ACA135-EDF5-D439-B38D-57A8E8559E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0" dirty="0"/>
              <a:t>Current Approach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E4440629-8A0C-E321-360C-893F48D2D7A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noProof="0" dirty="0"/>
              <a:t>Current Progress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4656C2D-2CE4-5D84-E575-A8E6B6D907C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238301913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4B3C47-5035-4E90-B123-0C18F9D0D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F08D7F-658C-42CB-BC1B-162F4618E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765217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726B-B44A-AE89-E243-D84AF80DE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7D6F1DC-7B8C-DB56-1D76-81ED0546E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480" y="1381574"/>
            <a:ext cx="5162550" cy="48261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noProof="0" dirty="0"/>
              <a:t>Automatic Generation of 3D</a:t>
            </a:r>
            <a:br>
              <a:rPr lang="en-US" sz="1900" b="1" noProof="0" dirty="0"/>
            </a:br>
            <a:r>
              <a:rPr lang="en-US" sz="1900" b="1" noProof="0" dirty="0"/>
              <a:t>Environment Models from Robot Sensor Data</a:t>
            </a:r>
          </a:p>
          <a:p>
            <a:r>
              <a:rPr lang="en-US" sz="1900" noProof="0" dirty="0"/>
              <a:t>Useful for:</a:t>
            </a:r>
          </a:p>
          <a:p>
            <a:pPr lvl="1"/>
            <a:r>
              <a:rPr lang="en-US" sz="1900" noProof="0" dirty="0"/>
              <a:t>Robotics</a:t>
            </a:r>
          </a:p>
          <a:p>
            <a:pPr lvl="1"/>
            <a:r>
              <a:rPr lang="en-US" sz="1900" noProof="0" dirty="0"/>
              <a:t>Mapping</a:t>
            </a:r>
          </a:p>
          <a:p>
            <a:pPr lvl="1"/>
            <a:r>
              <a:rPr lang="en-US" sz="1900" noProof="0" dirty="0"/>
              <a:t>Digital Twins</a:t>
            </a:r>
          </a:p>
          <a:p>
            <a:r>
              <a:rPr lang="en-US" sz="1900" noProof="0" dirty="0"/>
              <a:t>Possible Sensors:</a:t>
            </a:r>
          </a:p>
          <a:p>
            <a:pPr lvl="1"/>
            <a:r>
              <a:rPr lang="en-US" sz="1900" noProof="0" dirty="0"/>
              <a:t>Cameras</a:t>
            </a:r>
          </a:p>
          <a:p>
            <a:pPr lvl="2"/>
            <a:r>
              <a:rPr lang="en-US" sz="1900" noProof="0" dirty="0"/>
              <a:t>Color</a:t>
            </a:r>
          </a:p>
          <a:p>
            <a:pPr lvl="2"/>
            <a:r>
              <a:rPr lang="en-US" sz="1900" noProof="0" dirty="0"/>
              <a:t>Depth</a:t>
            </a:r>
          </a:p>
          <a:p>
            <a:pPr lvl="1"/>
            <a:r>
              <a:rPr lang="en-US" sz="1900" noProof="0" dirty="0"/>
              <a:t>LiDAR</a:t>
            </a:r>
          </a:p>
          <a:p>
            <a:pPr lvl="1"/>
            <a:r>
              <a:rPr lang="en-US" sz="1900" noProof="0" dirty="0"/>
              <a:t>…</a:t>
            </a:r>
          </a:p>
          <a:p>
            <a:pPr lvl="0">
              <a:defRPr/>
            </a:pPr>
            <a:r>
              <a:rPr lang="en-US" sz="1900" dirty="0"/>
              <a:t>Raw sensor data != usable 3D model</a:t>
            </a:r>
          </a:p>
          <a:p>
            <a:pPr lvl="0">
              <a:defRPr/>
            </a:pPr>
            <a:r>
              <a:rPr lang="en-US" sz="1900" dirty="0"/>
              <a:t>Existing pipelines are:</a:t>
            </a:r>
          </a:p>
          <a:p>
            <a:pPr lvl="1">
              <a:defRPr/>
            </a:pPr>
            <a:r>
              <a:rPr lang="en-US" sz="1900" dirty="0"/>
              <a:t>Complex</a:t>
            </a:r>
          </a:p>
          <a:p>
            <a:pPr lvl="1">
              <a:defRPr/>
            </a:pPr>
            <a:r>
              <a:rPr lang="en-US" sz="1900" dirty="0"/>
              <a:t>Not fully automated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6A21B2-CB1B-38E1-B9EB-CA7F4C6BC0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0"/>
            <a:ext cx="99996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Tom-Ole Korbach | 3D Environment Reconstruction with Spot</a:t>
            </a:r>
            <a:endParaRPr lang="en-US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AF198F-AE5C-2CE6-E777-68AD21F7D5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37862" y="6356350"/>
            <a:ext cx="5159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F4A6CBB-F502-4F21-9EEC-F3DA3CA45789}" type="slidenum">
              <a:rPr lang="en-US" noProof="0" smtClean="0"/>
              <a:pPr>
                <a:spcAft>
                  <a:spcPts val="600"/>
                </a:spcAft>
              </a:pPr>
              <a:t>4</a:t>
            </a:fld>
            <a:endParaRPr lang="en-US" noProof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7F9C9ED-FAEE-F34D-2A17-03B22D703AEF}"/>
              </a:ext>
            </a:extLst>
          </p:cNvPr>
          <p:cNvGrpSpPr/>
          <p:nvPr/>
        </p:nvGrpSpPr>
        <p:grpSpPr>
          <a:xfrm>
            <a:off x="6191250" y="1762229"/>
            <a:ext cx="5162550" cy="4118058"/>
            <a:chOff x="5693758" y="1464984"/>
            <a:chExt cx="6157533" cy="4911736"/>
          </a:xfrm>
        </p:grpSpPr>
        <p:pic>
          <p:nvPicPr>
            <p:cNvPr id="1026" name="Picture 2" descr="Rtabmap for custom environment 3D">
              <a:extLst>
                <a:ext uri="{FF2B5EF4-FFF2-40B4-BE49-F238E27FC236}">
                  <a16:creationId xmlns:a16="http://schemas.microsoft.com/office/drawing/2014/main" id="{7F810201-7B31-5193-843D-EF615AA011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353" b="94484" l="13704" r="97130">
                          <a14:foregroundMark x1="16481" y1="44484" x2="20833" y2="53237"/>
                          <a14:foregroundMark x1="20833" y1="53237" x2="13056" y2="45923"/>
                          <a14:foregroundMark x1="13056" y1="45923" x2="22222" y2="35012"/>
                          <a14:foregroundMark x1="22222" y1="35012" x2="20741" y2="49880"/>
                          <a14:foregroundMark x1="20741" y1="49880" x2="21204" y2="53357"/>
                          <a14:foregroundMark x1="22685" y1="59353" x2="14630" y2="51799"/>
                          <a14:foregroundMark x1="14630" y1="51799" x2="17037" y2="39808"/>
                          <a14:foregroundMark x1="17037" y1="39808" x2="17222" y2="45564"/>
                          <a14:foregroundMark x1="13796" y1="47122" x2="14074" y2="48561"/>
                          <a14:foregroundMark x1="44259" y1="68106" x2="48426" y2="70144"/>
                          <a14:foregroundMark x1="42685" y1="69424" x2="48981" y2="70863"/>
                          <a14:foregroundMark x1="51852" y1="73022" x2="58704" y2="64149"/>
                          <a14:foregroundMark x1="58704" y1="64149" x2="51574" y2="70983"/>
                          <a14:foregroundMark x1="51574" y1="70983" x2="55648" y2="67986"/>
                          <a14:foregroundMark x1="65556" y1="44844" x2="56204" y2="37170"/>
                          <a14:foregroundMark x1="56204" y1="37170" x2="65000" y2="41966"/>
                          <a14:foregroundMark x1="47593" y1="28537" x2="56111" y2="36451"/>
                          <a14:foregroundMark x1="49630" y1="29137" x2="60185" y2="34652"/>
                          <a14:foregroundMark x1="88611" y1="31175" x2="96481" y2="35851"/>
                          <a14:foregroundMark x1="96481" y1="35851" x2="92593" y2="46643"/>
                          <a14:foregroundMark x1="92593" y1="46643" x2="87593" y2="35851"/>
                          <a14:foregroundMark x1="87593" y1="35851" x2="87963" y2="30815"/>
                          <a14:foregroundMark x1="96574" y1="38489" x2="97130" y2="38129"/>
                          <a14:foregroundMark x1="66852" y1="11031" x2="70556" y2="15707"/>
                          <a14:foregroundMark x1="44815" y1="81535" x2="55741" y2="92686"/>
                          <a14:foregroundMark x1="55741" y1="92686" x2="47963" y2="87410"/>
                          <a14:foregroundMark x1="47963" y1="87410" x2="56296" y2="93405"/>
                          <a14:foregroundMark x1="56296" y1="93405" x2="57963" y2="89928"/>
                          <a14:foregroundMark x1="45185" y1="86211" x2="50000" y2="93165"/>
                          <a14:foregroundMark x1="52037" y1="92086" x2="54815" y2="9448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39" r="2013" b="-2"/>
            <a:stretch>
              <a:fillRect/>
            </a:stretch>
          </p:blipFill>
          <p:spPr bwMode="auto">
            <a:xfrm>
              <a:off x="6191249" y="1464984"/>
              <a:ext cx="5162550" cy="4711411"/>
            </a:xfrm>
            <a:prstGeom prst="rect">
              <a:avLst/>
            </a:prstGeom>
            <a:solidFill>
              <a:srgbClr val="FFFFFF"/>
            </a:solidFill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B37D7681-A327-130F-FB45-17191C27173D}"/>
                </a:ext>
              </a:extLst>
            </p:cNvPr>
            <p:cNvSpPr txBox="1"/>
            <p:nvPr/>
          </p:nvSpPr>
          <p:spPr>
            <a:xfrm>
              <a:off x="5693758" y="5976070"/>
              <a:ext cx="6157533" cy="400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70432">
                <a:spcAft>
                  <a:spcPts val="600"/>
                </a:spcAft>
              </a:pPr>
              <a:r>
                <a:rPr lang="en-US" sz="1408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https://capsulesbot.com/blog/2018/06/11/robotics-projects.html</a:t>
              </a:r>
              <a:endParaRPr lang="en-US" sz="1100" i="1"/>
            </a:p>
          </p:txBody>
        </p:sp>
      </p:grpSp>
    </p:spTree>
    <p:extLst>
      <p:ext uri="{BB962C8B-B14F-4D97-AF65-F5344CB8AC3E}">
        <p14:creationId xmlns:p14="http://schemas.microsoft.com/office/powerpoint/2010/main" val="28361115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739AD-0978-DDFF-A4F4-CB0E2733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Current Approach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5E3637-2C7F-FA80-6B7F-6AE6E1085C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3151969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C83BF-3631-FDDB-6B73-F268CD3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Current Approach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729452-1B66-DF15-35CA-853953F4CC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Tom-Ole Korbach | 3D Environment Reconstruction with Spot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EB2345-98F7-93CE-EE26-BB389D9110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14" name="Inhaltsplatzhalter 13">
            <a:extLst>
              <a:ext uri="{FF2B5EF4-FFF2-40B4-BE49-F238E27FC236}">
                <a16:creationId xmlns:a16="http://schemas.microsoft.com/office/drawing/2014/main" id="{4D335217-BD8B-07CE-1AAD-C4E6AA01F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0392" y="2371725"/>
            <a:ext cx="79152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6796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2D13A5-9E44-154E-B419-7BF0A3484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Current Progress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66B0EA-81CC-4D61-6C4F-70D91886A6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656558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4862A5-69EC-622B-DADE-1BDFF87F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Current Progress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0188E7-4CA1-D1D0-3275-4033AD5A2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noProof="0" dirty="0"/>
              <a:t>Researched Algorithms and Techniques</a:t>
            </a:r>
          </a:p>
          <a:p>
            <a:r>
              <a:rPr lang="en-US" noProof="0" dirty="0"/>
              <a:t>Understanding the Spot SDK</a:t>
            </a:r>
          </a:p>
          <a:p>
            <a:r>
              <a:rPr lang="en-US" noProof="0" dirty="0"/>
              <a:t>Started Data pipeline</a:t>
            </a:r>
          </a:p>
          <a:p>
            <a:pPr lvl="1"/>
            <a:r>
              <a:rPr lang="en-US" noProof="0" dirty="0"/>
              <a:t>Getting Camera/Image data</a:t>
            </a:r>
          </a:p>
          <a:p>
            <a:pPr lvl="1"/>
            <a:r>
              <a:rPr lang="en-US" noProof="0" dirty="0"/>
              <a:t>Recording Paths</a:t>
            </a:r>
          </a:p>
          <a:p>
            <a:pPr lvl="1"/>
            <a:r>
              <a:rPr lang="en-US" noProof="0" dirty="0"/>
              <a:t>Running Paths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FB0DF0-F634-61A0-625E-E7D3DA9E26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Tom-Ole Korbach | 3D Environment Reconstruction with Spot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96C101-F45C-4A89-32A2-C31687FEC1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BFF7E0D-E309-6731-E676-B7A486A5A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546" y="1193800"/>
            <a:ext cx="2791034" cy="209327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D8AB2A6-DE2A-A2CD-E120-72A8D8449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83545" y="3509130"/>
            <a:ext cx="2791035" cy="209327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180E373A-B39F-F28A-3ABE-FE684781C1AD}"/>
              </a:ext>
            </a:extLst>
          </p:cNvPr>
          <p:cNvSpPr txBox="1"/>
          <p:nvPr/>
        </p:nvSpPr>
        <p:spPr>
          <a:xfrm>
            <a:off x="6605907" y="5602406"/>
            <a:ext cx="2791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noProof="0" dirty="0"/>
              <a:t>For Presentation purpose: </a:t>
            </a:r>
          </a:p>
          <a:p>
            <a:r>
              <a:rPr lang="en-US" sz="1200" i="1" noProof="0" dirty="0"/>
              <a:t>Brightness: +40%  Contrast: -40%</a:t>
            </a:r>
          </a:p>
        </p:txBody>
      </p:sp>
    </p:spTree>
    <p:extLst>
      <p:ext uri="{BB962C8B-B14F-4D97-AF65-F5344CB8AC3E}">
        <p14:creationId xmlns:p14="http://schemas.microsoft.com/office/powerpoint/2010/main" val="268831140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0848F-A57E-46D7-8BDB-3268266E1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CA8B51-2A73-4AAB-BA2F-4EF987C970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5200338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56205-8BAF-4355-8297-41CC6093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Timeline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169E85-9320-4C57-A73A-75001C6C5E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Tom-Ole Korbach | 3D Environment Reconstruction with Spot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FE2BC8-2E72-4F71-83D4-C9DAFF5162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en-US" noProof="0" smtClean="0"/>
              <a:pPr/>
              <a:t>10</a:t>
            </a:fld>
            <a:endParaRPr lang="en-US" noProof="0" dirty="0"/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25F4B48B-B7FC-2E87-BB01-B35D49CE50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5835332"/>
              </p:ext>
            </p:extLst>
          </p:nvPr>
        </p:nvGraphicFramePr>
        <p:xfrm>
          <a:off x="838200" y="1129505"/>
          <a:ext cx="10572752" cy="4598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9E3048B-E072-4B20-862C-030B3B09752A}"/>
              </a:ext>
            </a:extLst>
          </p:cNvPr>
          <p:cNvCxnSpPr/>
          <p:nvPr/>
        </p:nvCxnSpPr>
        <p:spPr>
          <a:xfrm>
            <a:off x="3187457" y="1420776"/>
            <a:ext cx="0" cy="416098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45120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22CB-3DED-A1A2-21B4-CD39E60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56B063-8FC9-3ACF-6C97-60D5353CF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Questions?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3D7D09-671E-145D-64AC-9E051065B6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646666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VCAI">
  <a:themeElements>
    <a:clrScheme name="Warmes Blau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enutzerdefiniert 2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Breitbild</PresentationFormat>
  <Paragraphs>67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Lato</vt:lpstr>
      <vt:lpstr>Lato Light</vt:lpstr>
      <vt:lpstr>VCAI</vt:lpstr>
      <vt:lpstr>Automatic Generation of 3D Environment Models from Robot Sensor Data</vt:lpstr>
      <vt:lpstr>PowerPoint-Präsentation</vt:lpstr>
      <vt:lpstr>Introduction</vt:lpstr>
      <vt:lpstr>Introduction</vt:lpstr>
      <vt:lpstr>Current Approach</vt:lpstr>
      <vt:lpstr>Current Approach</vt:lpstr>
      <vt:lpstr>Current Progress</vt:lpstr>
      <vt:lpstr>Current Progress</vt:lpstr>
      <vt:lpstr>Timeline</vt:lpstr>
      <vt:lpstr>Timeline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MartenF</dc:creator>
  <cp:lastModifiedBy>Tom-Ole Korbach</cp:lastModifiedBy>
  <cp:revision>81</cp:revision>
  <dcterms:created xsi:type="dcterms:W3CDTF">2024-03-28T09:42:46Z</dcterms:created>
  <dcterms:modified xsi:type="dcterms:W3CDTF">2026-04-27T17:25:12Z</dcterms:modified>
</cp:coreProperties>
</file>